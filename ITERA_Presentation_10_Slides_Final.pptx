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7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52560" y="-182880"/>
            <a:ext cx="3474720" cy="7315200"/>
          </a:xfrm>
          <a:prstGeom prst="roundRect">
            <a:avLst/>
          </a:prstGeom>
          <a:solidFill>
            <a:srgbClr val="1439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75520" y="457200"/>
            <a:ext cx="2560320" cy="5669280"/>
          </a:xfrm>
          <a:prstGeom prst="roundRect">
            <a:avLst/>
          </a:prstGeom>
          <a:solidFill>
            <a:srgbClr val="1F4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_clean_modern_minimalist_tech_brand_logo_on_a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60120"/>
            <a:ext cx="5943600" cy="5943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4434840"/>
            <a:ext cx="7772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t>AI-Powered IT Self-Service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0292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AD8EB"/>
                </a:solidFill>
                <a:latin typeface="Aptos"/>
              </a:defRPr>
            </a:pPr>
            <a:r>
              <a:t>Diagnose  •  Troubleshoot  •  Solve  •  Escalate when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650992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71D2E1"/>
                </a:solidFill>
                <a:latin typeface="Aptos"/>
              </a:defRPr>
            </a:pPr>
            <a:r>
              <a:t>Smarter IT Support, Simplified.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FBED2"/>
                </a:solidFill>
                <a:latin typeface="Aptos"/>
              </a:defRPr>
            </a:pPr>
            <a:r>
              <a:t>ITERA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190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FBED2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_clean_modern_minimalist_tech_brand_logo_on_a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56032"/>
            <a:ext cx="118872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384048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0D274C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B697E"/>
                </a:solidFill>
                <a:latin typeface="Aptos"/>
              </a:defRPr>
            </a:pPr>
            <a:r>
              <a:t>Why do simple IT issues become support tickets?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3832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64008" cy="3291840"/>
          </a:xfrm>
          <a:prstGeom prst="rect">
            <a:avLst/>
          </a:prstGeom>
          <a:solidFill>
            <a:srgbClr val="268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801368"/>
            <a:ext cx="457200" cy="457200"/>
          </a:xfrm>
          <a:prstGeom prst="roundRect">
            <a:avLst/>
          </a:prstGeom>
          <a:solidFill>
            <a:srgbClr val="268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1965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0487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D274C"/>
                </a:solidFill>
                <a:latin typeface="Aptos"/>
              </a:defRPr>
            </a:pPr>
            <a:r>
              <a:t>Repetitive Tickets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2926080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B697E"/>
                </a:solidFill>
                <a:latin typeface="Aptos"/>
              </a:defRPr>
            </a:pPr>
            <a:r>
              <a:t>Many requests are common issues that users could resolve with clear guidance.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33832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600200"/>
            <a:ext cx="64008" cy="3291840"/>
          </a:xfrm>
          <a:prstGeom prst="rect">
            <a:avLst/>
          </a:prstGeom>
          <a:solidFill>
            <a:srgbClr val="644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17720" y="1801368"/>
            <a:ext cx="457200" cy="457200"/>
          </a:xfrm>
          <a:prstGeom prst="roundRect">
            <a:avLst/>
          </a:prstGeom>
          <a:solidFill>
            <a:srgbClr val="644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81965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40487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D274C"/>
                </a:solidFill>
                <a:latin typeface="Aptos"/>
              </a:defRPr>
            </a:pPr>
            <a:r>
              <a:t>Knowledge Base Limits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834640"/>
            <a:ext cx="2926080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B697E"/>
                </a:solidFill>
                <a:latin typeface="Aptos"/>
              </a:defRPr>
            </a:pPr>
            <a:r>
              <a:t>Traditional knowledge bases depend on users knowing what to search for and how to describe the issue.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600200"/>
            <a:ext cx="33832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600200"/>
            <a:ext cx="64008" cy="3291840"/>
          </a:xfrm>
          <a:prstGeom prst="rect">
            <a:avLst/>
          </a:prstGeom>
          <a:solidFill>
            <a:srgbClr val="19B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21040" y="1801368"/>
            <a:ext cx="457200" cy="457200"/>
          </a:xfrm>
          <a:prstGeom prst="roundRect">
            <a:avLst/>
          </a:prstGeom>
          <a:solidFill>
            <a:srgbClr val="19B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81965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40487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D274C"/>
                </a:solidFill>
                <a:latin typeface="Aptos"/>
              </a:defRPr>
            </a:pPr>
            <a:r>
              <a:t>Slow Troubleshooting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834640"/>
            <a:ext cx="2926080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B697E"/>
                </a:solidFill>
                <a:latin typeface="Aptos"/>
              </a:defRPr>
            </a:pPr>
            <a:r>
              <a:t>Incomplete descriptions and screenshots can make diagnosis and back-and-forth communication slower.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2578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D274C"/>
                </a:solidFill>
                <a:latin typeface="Aptos"/>
              </a:defRPr>
            </a:pPr>
            <a:r>
              <a:t>The opportunity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5212080"/>
            <a:ext cx="8869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233044"/>
                </a:solidFill>
                <a:latin typeface="Aptos"/>
              </a:defRPr>
            </a:pPr>
            <a:r>
              <a:t>Move simple IT support closer to the employee — while keeping IT in control of issues that truly need intervention.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1908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5B697E"/>
                </a:solidFill>
                <a:latin typeface="Aptos"/>
              </a:defRPr>
            </a:pPr>
            <a:r>
              <a:t>ITERA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18520" y="64190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B697E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7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Meet ITERA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87552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AD7E8"/>
                </a:solidFill>
                <a:latin typeface="Aptos"/>
              </a:defRPr>
            </a:pPr>
            <a:r>
              <a:t>An AI-powered self-service layer between employees and IT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1828800"/>
            <a:ext cx="3886200" cy="2148840"/>
          </a:xfrm>
          <a:prstGeom prst="roundRect">
            <a:avLst/>
          </a:prstGeom>
          <a:solidFill>
            <a:srgbClr val="1B3968"/>
          </a:solidFill>
          <a:ln>
            <a:solidFill>
              <a:srgbClr val="3F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43400" y="2103120"/>
            <a:ext cx="3520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ptos"/>
              </a:defRPr>
            </a:pPr>
            <a:r>
              <a:t>ITERA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2743200"/>
            <a:ext cx="3337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D2DFF0"/>
                </a:solidFill>
                <a:latin typeface="Aptos"/>
              </a:defRPr>
            </a:pPr>
            <a:r>
              <a:t>Understand the problem</a:t>
            </a:r>
            <a:br/>
            <a:r>
              <a:t>and guide the user to the right 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28346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64008" cy="2148840"/>
          </a:xfrm>
          <a:prstGeom prst="rect">
            <a:avLst/>
          </a:prstGeom>
          <a:solidFill>
            <a:srgbClr val="268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D274C"/>
                </a:solidFill>
                <a:latin typeface="Aptos"/>
              </a:defRPr>
            </a:pPr>
            <a:r>
              <a:t>User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B697E"/>
                </a:solidFill>
                <a:latin typeface="Aptos"/>
              </a:defRPr>
            </a:pPr>
            <a:r>
              <a:t>📷 Photo / screenshot</a:t>
            </a:r>
            <a:br/>
            <a:r>
              <a:t>📝 Problem description</a:t>
            </a:r>
            <a:br/>
            <a:r>
              <a:t>💻 Basic device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1828800"/>
            <a:ext cx="28346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41080" y="1828800"/>
            <a:ext cx="64008" cy="2148840"/>
          </a:xfrm>
          <a:prstGeom prst="rect">
            <a:avLst/>
          </a:prstGeom>
          <a:solidFill>
            <a:srgbClr val="644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263347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D274C"/>
                </a:solidFill>
                <a:latin typeface="Aptos"/>
              </a:defRPr>
            </a:pPr>
            <a:r>
              <a:t>IT 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306324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B697E"/>
                </a:solidFill>
                <a:latin typeface="Aptos"/>
              </a:defRPr>
            </a:pPr>
            <a:r>
              <a:t>🟢 Self-service resolution</a:t>
            </a:r>
            <a:br/>
            <a:r>
              <a:t>🟡 Guided troubleshooting</a:t>
            </a:r>
            <a:br/>
            <a:r>
              <a:t>🔗 Link to IT portal when needed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892040"/>
            <a:ext cx="6309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71D2E1"/>
                </a:solidFill>
                <a:latin typeface="Aptos"/>
              </a:defRPr>
            </a:pPr>
            <a:r>
              <a:t>ITERA does not create tickets automatically.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53492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CAD8EB"/>
                </a:solidFill>
                <a:latin typeface="Aptos"/>
              </a:defRPr>
            </a:pPr>
            <a:r>
              <a:t>It only provides the existing IT support portal link when IT assistance is required.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1908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FBED2"/>
                </a:solidFill>
                <a:latin typeface="Aptos"/>
              </a:defRPr>
            </a:pPr>
            <a:r>
              <a:t>ITERA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190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FBED2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_clean_modern_minimalist_tech_brand_logo_on_a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56032"/>
            <a:ext cx="118872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384048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0D274C"/>
                </a:solidFill>
                <a:latin typeface="Aptos"/>
              </a:defRPr>
            </a:pPr>
            <a:r>
              <a:t>How ITERA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B697E"/>
                </a:solidFill>
                <a:latin typeface="Aptos"/>
              </a:defRPr>
            </a:pPr>
            <a:r>
              <a:t>A simple user journey powered by multiple AI capabilities</a:t>
            </a:r>
          </a:p>
        </p:txBody>
      </p:sp>
      <p:sp>
        <p:nvSpPr>
          <p:cNvPr id="6" name="Oval 5"/>
          <p:cNvSpPr/>
          <p:nvPr/>
        </p:nvSpPr>
        <p:spPr>
          <a:xfrm>
            <a:off x="1124712" y="1508760"/>
            <a:ext cx="566928" cy="566928"/>
          </a:xfrm>
          <a:prstGeom prst="ellipse">
            <a:avLst/>
          </a:prstGeom>
          <a:solidFill>
            <a:srgbClr val="268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" y="1655064"/>
            <a:ext cx="5669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D274C"/>
                </a:solidFill>
                <a:latin typeface="Aptos"/>
              </a:defRPr>
            </a:pPr>
            <a:r>
              <a:t>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17830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5B697E"/>
                </a:solidFill>
                <a:latin typeface="Aptos"/>
              </a:defRPr>
            </a:pPr>
            <a:r>
              <a:t>Upload a photo or screenshot.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03704" y="1636776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9BA5B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3063240" y="1508760"/>
            <a:ext cx="566928" cy="566928"/>
          </a:xfrm>
          <a:prstGeom prst="ellipse">
            <a:avLst/>
          </a:prstGeom>
          <a:solidFill>
            <a:srgbClr val="268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1655064"/>
            <a:ext cx="5669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2888" y="2331720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D274C"/>
                </a:solidFill>
                <a:latin typeface="Aptos"/>
              </a:defRPr>
            </a:pPr>
            <a:r>
              <a:t>Describe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168" y="2788920"/>
            <a:ext cx="17830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5B697E"/>
                </a:solidFill>
                <a:latin typeface="Aptos"/>
              </a:defRPr>
            </a:pPr>
            <a:r>
              <a:t>Explain the issue in natural language.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42232" y="1636776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9BA5B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5001768" y="1508760"/>
            <a:ext cx="566928" cy="566928"/>
          </a:xfrm>
          <a:prstGeom prst="ellipse">
            <a:avLst/>
          </a:prstGeom>
          <a:solidFill>
            <a:srgbClr val="268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1768" y="1655064"/>
            <a:ext cx="5669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1416" y="2331720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D274C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2788920"/>
            <a:ext cx="17830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5B697E"/>
                </a:solidFill>
                <a:latin typeface="Aptos"/>
              </a:defRPr>
            </a:pPr>
            <a:r>
              <a:t>AI combines visual and text evidence.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1636776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9BA5B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6940296" y="1508760"/>
            <a:ext cx="566928" cy="566928"/>
          </a:xfrm>
          <a:prstGeom prst="ellipse">
            <a:avLst/>
          </a:prstGeom>
          <a:solidFill>
            <a:srgbClr val="644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0296" y="1655064"/>
            <a:ext cx="5669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2331720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D274C"/>
                </a:solidFill>
                <a:latin typeface="Aptos"/>
              </a:defRPr>
            </a:pPr>
            <a:r>
              <a:t>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2788920"/>
            <a:ext cx="17830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5B697E"/>
                </a:solidFill>
                <a:latin typeface="Aptos"/>
              </a:defRPr>
            </a:pPr>
            <a:r>
              <a:t>Get safe, step-by-step troubleshooting.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9288" y="1636776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9BA5B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Oval 25"/>
          <p:cNvSpPr/>
          <p:nvPr/>
        </p:nvSpPr>
        <p:spPr>
          <a:xfrm>
            <a:off x="8878824" y="1508760"/>
            <a:ext cx="566928" cy="566928"/>
          </a:xfrm>
          <a:prstGeom prst="ellipse">
            <a:avLst/>
          </a:prstGeom>
          <a:solidFill>
            <a:srgbClr val="644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78824" y="1655064"/>
            <a:ext cx="5669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2" y="2331720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D274C"/>
                </a:solidFill>
                <a:latin typeface="Aptos"/>
              </a:defRPr>
            </a:pPr>
            <a:r>
              <a:t>Confirm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2788920"/>
            <a:ext cx="17830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5B697E"/>
                </a:solidFill>
                <a:latin typeface="Aptos"/>
              </a:defRPr>
            </a:pPr>
            <a:r>
              <a:t>Tell ITERA whether it worked.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7816" y="1636776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9BA5B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Oval 30"/>
          <p:cNvSpPr/>
          <p:nvPr/>
        </p:nvSpPr>
        <p:spPr>
          <a:xfrm>
            <a:off x="10817352" y="1508760"/>
            <a:ext cx="566928" cy="566928"/>
          </a:xfrm>
          <a:prstGeom prst="ellipse">
            <a:avLst/>
          </a:prstGeom>
          <a:solidFill>
            <a:srgbClr val="644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17352" y="1655064"/>
            <a:ext cx="5669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2331720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D274C"/>
                </a:solidFill>
                <a:latin typeface="Aptos"/>
              </a:defRPr>
            </a:pPr>
            <a:r>
              <a:t>Escalate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2788920"/>
            <a:ext cx="17830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5B697E"/>
                </a:solidFill>
                <a:latin typeface="Aptos"/>
              </a:defRPr>
            </a:pPr>
            <a:r>
              <a:t>If needed, open the existing IT portal.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4983480"/>
            <a:ext cx="9418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D274C"/>
                </a:solidFill>
                <a:latin typeface="Aptos"/>
              </a:defRPr>
            </a:pPr>
            <a:r>
              <a:t>Goal: resolve what can be resolved safely — escalate only what truly needs IT.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1908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5B697E"/>
                </a:solidFill>
                <a:latin typeface="Aptos"/>
              </a:defRPr>
            </a:pPr>
            <a:r>
              <a:t>ITERA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18520" y="64190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B697E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_clean_modern_minimalist_tech_brand_logo_on_a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56032"/>
            <a:ext cx="118872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384048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0D274C"/>
                </a:solidFill>
                <a:latin typeface="Aptos"/>
              </a:defRPr>
            </a:pPr>
            <a:r>
              <a:t>AI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B697E"/>
                </a:solidFill>
                <a:latin typeface="Aptos"/>
              </a:defRPr>
            </a:pPr>
            <a:r>
              <a:t>The technologies behind ITERA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81328"/>
            <a:ext cx="3429000" cy="1755648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81328"/>
            <a:ext cx="64008" cy="1755648"/>
          </a:xfrm>
          <a:prstGeom prst="rect">
            <a:avLst/>
          </a:prstGeom>
          <a:solidFill>
            <a:srgbClr val="268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D274C"/>
                </a:solidFill>
                <a:latin typeface="Aptos"/>
              </a:defRPr>
            </a:pPr>
            <a:r>
              <a:t>Computer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15768"/>
            <a:ext cx="2971800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B697E"/>
                </a:solidFill>
                <a:latin typeface="Aptos"/>
              </a:defRPr>
            </a:pPr>
            <a:r>
              <a:t>Analyze screenshots and photos to detect visible errors, UI states and relevant visual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481328"/>
            <a:ext cx="3429000" cy="1755648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481328"/>
            <a:ext cx="64008" cy="1755648"/>
          </a:xfrm>
          <a:prstGeom prst="rect">
            <a:avLst/>
          </a:prstGeom>
          <a:solidFill>
            <a:srgbClr val="644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286000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D274C"/>
                </a:solidFill>
                <a:latin typeface="Aptos"/>
              </a:defRPr>
            </a:pPr>
            <a:r>
              <a:t>Natural Language 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715768"/>
            <a:ext cx="2971800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B697E"/>
                </a:solidFill>
                <a:latin typeface="Aptos"/>
              </a:defRPr>
            </a:pPr>
            <a:r>
              <a:t>Understand how employees describe symptoms and extract the problem context.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481328"/>
            <a:ext cx="3429000" cy="1755648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481328"/>
            <a:ext cx="64008" cy="1755648"/>
          </a:xfrm>
          <a:prstGeom prst="rect">
            <a:avLst/>
          </a:prstGeom>
          <a:solidFill>
            <a:srgbClr val="19B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286000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D274C"/>
                </a:solidFill>
                <a:latin typeface="Aptos"/>
              </a:defRPr>
            </a:pPr>
            <a:r>
              <a:t>AI Reasoning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715768"/>
            <a:ext cx="2971800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B697E"/>
                </a:solidFill>
                <a:latin typeface="Aptos"/>
              </a:defRPr>
            </a:pPr>
            <a:r>
              <a:t>Combine image, text and knowledge to identify likely causes and safe next actions.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30168"/>
            <a:ext cx="3429000" cy="1755648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630168"/>
            <a:ext cx="64008" cy="1755648"/>
          </a:xfrm>
          <a:prstGeom prst="rect">
            <a:avLst/>
          </a:prstGeom>
          <a:solidFill>
            <a:srgbClr val="2D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34840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D274C"/>
                </a:solidFill>
                <a:latin typeface="Aptos"/>
              </a:defRPr>
            </a:pPr>
            <a:r>
              <a:t>Agentic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64608"/>
            <a:ext cx="2971800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B697E"/>
                </a:solidFill>
                <a:latin typeface="Aptos"/>
              </a:defRPr>
            </a:pPr>
            <a:r>
              <a:t>Ask follow-up questions and guide the user through an adaptive troubleshooting flow.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630168"/>
            <a:ext cx="3429000" cy="1755648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3630168"/>
            <a:ext cx="64008" cy="1755648"/>
          </a:xfrm>
          <a:prstGeom prst="rect">
            <a:avLst/>
          </a:prstGeom>
          <a:solidFill>
            <a:srgbClr val="F0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4434840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D274C"/>
                </a:solidFill>
                <a:latin typeface="Aptos"/>
              </a:defRPr>
            </a:pPr>
            <a:r>
              <a:t>Feedback &amp; Reward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864608"/>
            <a:ext cx="2971800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B697E"/>
                </a:solidFill>
                <a:latin typeface="Aptos"/>
              </a:defRPr>
            </a:pPr>
            <a:r>
              <a:t>Record whether actions solved the problem and use outcomes to improve decision-making.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1908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5B697E"/>
                </a:solidFill>
                <a:latin typeface="Aptos"/>
              </a:defRPr>
            </a:pPr>
            <a:r>
              <a:t>ITERA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18520" y="64190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B697E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7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87552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AD7E8"/>
                </a:solidFill>
                <a:latin typeface="Aptos"/>
              </a:defRPr>
            </a:pPr>
            <a:r>
              <a:t>Organized frontend, backend and AI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25880"/>
            <a:ext cx="10378440" cy="713232"/>
          </a:xfrm>
          <a:prstGeom prst="roundRect">
            <a:avLst/>
          </a:prstGeom>
          <a:solidFill>
            <a:srgbClr val="1A3766"/>
          </a:solidFill>
          <a:ln>
            <a:solidFill>
              <a:srgbClr val="43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490472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73D4E1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1472184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React Web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481328"/>
            <a:ext cx="5577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FDBEC"/>
                </a:solidFill>
                <a:latin typeface="Aptos"/>
              </a:defRPr>
            </a:pPr>
            <a:r>
              <a:t>Upload • Chat • Diagnosis • Troubleshooting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286000"/>
            <a:ext cx="10378440" cy="713232"/>
          </a:xfrm>
          <a:prstGeom prst="roundRect">
            <a:avLst/>
          </a:prstGeom>
          <a:solidFill>
            <a:srgbClr val="1A3766"/>
          </a:solidFill>
          <a:ln>
            <a:solidFill>
              <a:srgbClr val="43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450592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73D4E1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432304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Python + 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441448"/>
            <a:ext cx="5577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FDBEC"/>
                </a:solidFill>
                <a:latin typeface="Aptos"/>
              </a:defRPr>
            </a:pPr>
            <a:r>
              <a:t>REST API • Authentication • Business logic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246120"/>
            <a:ext cx="10378440" cy="713232"/>
          </a:xfrm>
          <a:prstGeom prst="roundRect">
            <a:avLst/>
          </a:prstGeom>
          <a:solidFill>
            <a:srgbClr val="1A3766"/>
          </a:solidFill>
          <a:ln>
            <a:solidFill>
              <a:srgbClr val="43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410712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73D4E1"/>
                </a:solidFill>
                <a:latin typeface="Aptos"/>
              </a:defRPr>
            </a:pPr>
            <a:r>
              <a:t>AI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3392424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CV + OCR + NLP + LLM +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401568"/>
            <a:ext cx="5577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FDBEC"/>
                </a:solidFill>
                <a:latin typeface="Aptos"/>
              </a:defRPr>
            </a:pPr>
            <a:r>
              <a:t>Analyze • Reason • Ask • Guide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206240"/>
            <a:ext cx="10378440" cy="713232"/>
          </a:xfrm>
          <a:prstGeom prst="roundRect">
            <a:avLst/>
          </a:prstGeom>
          <a:solidFill>
            <a:srgbClr val="1A3766"/>
          </a:solidFill>
          <a:ln>
            <a:solidFill>
              <a:srgbClr val="43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370832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73D4E1"/>
                </a:solidFill>
                <a:latin typeface="Aptos"/>
              </a:defRPr>
            </a:pPr>
            <a:r>
              <a:t>KNOWLEDGE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4352544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IT Knowledge 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361688"/>
            <a:ext cx="5577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FDBEC"/>
                </a:solidFill>
                <a:latin typeface="Aptos"/>
              </a:defRPr>
            </a:pPr>
            <a:r>
              <a:t>Problems • Causes • Solutions • Rules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166360"/>
            <a:ext cx="10378440" cy="713232"/>
          </a:xfrm>
          <a:prstGeom prst="roundRect">
            <a:avLst/>
          </a:prstGeom>
          <a:solidFill>
            <a:srgbClr val="1A3766"/>
          </a:solidFill>
          <a:ln>
            <a:solidFill>
              <a:srgbClr val="43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330952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73D4E1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5312664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5321808"/>
            <a:ext cx="5577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FDBEC"/>
                </a:solidFill>
                <a:latin typeface="Aptos"/>
              </a:defRPr>
            </a:pPr>
            <a:r>
              <a:t>Cases • Feedback • History •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1908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FBED2"/>
                </a:solidFill>
                <a:latin typeface="Aptos"/>
              </a:defRPr>
            </a:pPr>
            <a:r>
              <a:t>ITERA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190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FBED2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_clean_modern_minimalist_tech_brand_logo_on_a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56032"/>
            <a:ext cx="118872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384048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0D274C"/>
                </a:solidFill>
                <a:latin typeface="Aptos"/>
              </a:defRPr>
            </a:pPr>
            <a:r>
              <a:t>IT Decision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B697E"/>
                </a:solidFill>
                <a:latin typeface="Aptos"/>
              </a:defRPr>
            </a:pPr>
            <a:r>
              <a:t>ITERA decides whether the user can continue without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429000" cy="3703320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64008" cy="3703320"/>
          </a:xfrm>
          <a:prstGeom prst="rect">
            <a:avLst/>
          </a:prstGeom>
          <a:solidFill>
            <a:srgbClr val="2D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13432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D274C"/>
                </a:solidFill>
                <a:latin typeface="Aptos"/>
              </a:defRPr>
            </a:pPr>
            <a:r>
              <a:t>🟢 Self-Service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2971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B697E"/>
                </a:solidFill>
                <a:latin typeface="Aptos"/>
              </a:defRPr>
            </a:pPr>
            <a:r>
              <a:t>Common and low-risk issue.</a:t>
            </a:r>
            <a:br/>
            <a:br/>
            <a:r>
              <a:t>ITERA gives clear instructions and asks the user to confirm whether the issue is solved.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429000" cy="3703320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64008" cy="3703320"/>
          </a:xfrm>
          <a:prstGeom prst="rect">
            <a:avLst/>
          </a:prstGeom>
          <a:solidFill>
            <a:srgbClr val="F0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313432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D274C"/>
                </a:solidFill>
                <a:latin typeface="Aptos"/>
              </a:defRPr>
            </a:pPr>
            <a:r>
              <a:t>🟡 Guided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743200"/>
            <a:ext cx="2971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B697E"/>
                </a:solidFill>
                <a:latin typeface="Aptos"/>
              </a:defRPr>
            </a:pPr>
            <a:r>
              <a:t>The issue needs multiple checks.</a:t>
            </a:r>
            <a:br/>
            <a:br/>
            <a:r>
              <a:t>ITERA asks questions, evaluates the answers and selects the next troubleshooting step.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08760"/>
            <a:ext cx="3429000" cy="3703320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08760"/>
            <a:ext cx="64008" cy="3703320"/>
          </a:xfrm>
          <a:prstGeom prst="rect">
            <a:avLst/>
          </a:prstGeom>
          <a:solidFill>
            <a:srgbClr val="E14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313432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D274C"/>
                </a:solidFill>
                <a:latin typeface="Aptos"/>
              </a:defRPr>
            </a:pPr>
            <a:r>
              <a:t>🔴 IT Required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743200"/>
            <a:ext cx="2971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B697E"/>
                </a:solidFill>
                <a:latin typeface="Aptos"/>
              </a:defRPr>
            </a:pPr>
            <a:r>
              <a:t>Admin access, hardware failure, server-side changes, security concerns or an unresolved issue.</a:t>
            </a:r>
            <a:br/>
            <a:br/>
            <a:r>
              <a:t>ITERA shows a link to the existing IT support portal.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623560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0D274C"/>
                </a:solidFill>
                <a:latin typeface="Aptos"/>
              </a:defRPr>
            </a:pPr>
            <a:r>
              <a:t>No automatic ticket creation.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1908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5B697E"/>
                </a:solidFill>
                <a:latin typeface="Aptos"/>
              </a:defRPr>
            </a:pPr>
            <a:r>
              <a:t>ITERA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190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B697E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7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Real-World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87552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AD7E8"/>
                </a:solidFill>
                <a:latin typeface="Aptos"/>
              </a:defRPr>
            </a:pPr>
            <a:r>
              <a:t>From screenshot to the correct next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4983480" cy="4297680"/>
          </a:xfrm>
          <a:prstGeom prst="round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441DC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03120"/>
            <a:ext cx="4114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3044"/>
                </a:solidFill>
                <a:latin typeface="Aptos"/>
              </a:defRPr>
            </a:pPr>
            <a:r>
              <a:t>“I can't install this application.”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2971800"/>
            <a:ext cx="4251960" cy="1051560"/>
          </a:xfrm>
          <a:prstGeom prst="roundRect">
            <a:avLst/>
          </a:prstGeom>
          <a:solidFill>
            <a:srgbClr val="F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218688"/>
            <a:ext cx="374903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274C"/>
                </a:solidFill>
                <a:latin typeface="Aptos"/>
              </a:defRPr>
            </a:pPr>
            <a:r>
              <a:t>📷 Screenshot detected:</a:t>
            </a:r>
            <a:br/>
            <a:r>
              <a:t>“Administrator permission required.”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3434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682EB"/>
                </a:solidFill>
                <a:latin typeface="Aptos"/>
              </a:defRPr>
            </a:pPr>
            <a:r>
              <a:t>ITERA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709160"/>
            <a:ext cx="4114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33044"/>
                </a:solidFill>
                <a:latin typeface="Aptos"/>
              </a:defRPr>
            </a:pPr>
            <a:r>
              <a:t>This action requires administrator privileges.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417320"/>
            <a:ext cx="4892040" cy="4297680"/>
          </a:xfrm>
          <a:prstGeom prst="roundRect">
            <a:avLst/>
          </a:prstGeom>
          <a:solidFill>
            <a:srgbClr val="1B3968"/>
          </a:solidFill>
          <a:ln>
            <a:solidFill>
              <a:srgbClr val="43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78308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71D4E1"/>
                </a:solidFill>
                <a:latin typeface="Aptos"/>
              </a:defRPr>
            </a:pPr>
            <a:r>
              <a:t>ITERA 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286000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🔴 IT Assistance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971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AABED7"/>
                </a:solidFill>
                <a:latin typeface="Aptos"/>
              </a:defRPr>
            </a:pPr>
            <a:r>
              <a:t>Reason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337560"/>
            <a:ext cx="3886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Administrator access is required.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977639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AABED7"/>
                </a:solidFill>
                <a:latin typeface="Aptos"/>
              </a:defRPr>
            </a:pPr>
            <a:r>
              <a:t>Next action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4407408"/>
            <a:ext cx="3520440" cy="621792"/>
          </a:xfrm>
          <a:prstGeom prst="roundRect">
            <a:avLst/>
          </a:prstGeom>
          <a:solidFill>
            <a:srgbClr val="268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4590288"/>
            <a:ext cx="3246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Open IT Support Portal  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5230368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B9CDE1"/>
                </a:solidFill>
                <a:latin typeface="Aptos"/>
              </a:defRPr>
            </a:pPr>
            <a:r>
              <a:t>ITERA does not create the ticket.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1908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FBED2"/>
                </a:solidFill>
                <a:latin typeface="Aptos"/>
              </a:defRPr>
            </a:pPr>
            <a:r>
              <a:t>ITERA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4190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FBED2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_clean_modern_minimalist_tech_brand_logo_on_a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56032"/>
            <a:ext cx="118872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384048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0D274C"/>
                </a:solidFill>
                <a:latin typeface="Aptos"/>
              </a:defRPr>
            </a:pPr>
            <a:r>
              <a:t>Expected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B697E"/>
                </a:solidFill>
                <a:latin typeface="Aptos"/>
              </a:defRPr>
            </a:pPr>
            <a:r>
              <a:t>Value for employees, IT and the organization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4290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64008" cy="3337560"/>
          </a:xfrm>
          <a:prstGeom prst="rect">
            <a:avLst/>
          </a:prstGeom>
          <a:solidFill>
            <a:srgbClr val="268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04872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D274C"/>
                </a:solidFill>
                <a:latin typeface="Aptos"/>
              </a:defRPr>
            </a:pPr>
            <a:r>
              <a:t>Employees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2971800" cy="1920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B697E"/>
                </a:solidFill>
                <a:latin typeface="Aptos"/>
              </a:defRPr>
            </a:pPr>
            <a:r>
              <a:t>Faster answers</a:t>
            </a:r>
            <a:br/>
            <a:r>
              <a:t>24/7 self-service</a:t>
            </a:r>
            <a:br/>
            <a:r>
              <a:t>Less IT terminology</a:t>
            </a:r>
            <a:br/>
            <a:r>
              <a:t>Easy photo-based support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00200"/>
            <a:ext cx="34290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600200"/>
            <a:ext cx="64008" cy="3337560"/>
          </a:xfrm>
          <a:prstGeom prst="rect">
            <a:avLst/>
          </a:prstGeom>
          <a:solidFill>
            <a:srgbClr val="644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404872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D274C"/>
                </a:solidFill>
                <a:latin typeface="Aptos"/>
              </a:defRPr>
            </a:pPr>
            <a:r>
              <a:t>IT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834640"/>
            <a:ext cx="2971800" cy="1920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B697E"/>
                </a:solidFill>
                <a:latin typeface="Aptos"/>
              </a:defRPr>
            </a:pPr>
            <a:r>
              <a:t>Fewer repetitive requests</a:t>
            </a:r>
            <a:br/>
            <a:r>
              <a:t>Better troubleshooting context</a:t>
            </a:r>
            <a:br/>
            <a:r>
              <a:t>More time for complex issues</a:t>
            </a:r>
            <a:br/>
            <a:r>
              <a:t>Consistent guidance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600200"/>
            <a:ext cx="34290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600200"/>
            <a:ext cx="64008" cy="3337560"/>
          </a:xfrm>
          <a:prstGeom prst="rect">
            <a:avLst/>
          </a:prstGeom>
          <a:solidFill>
            <a:srgbClr val="19B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404872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D274C"/>
                </a:solidFill>
                <a:latin typeface="Aptos"/>
              </a:defRPr>
            </a:pPr>
            <a:r>
              <a:t>Organization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834640"/>
            <a:ext cx="2971800" cy="1920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B697E"/>
                </a:solidFill>
                <a:latin typeface="Aptos"/>
              </a:defRPr>
            </a:pPr>
            <a:r>
              <a:t>Lower support workload</a:t>
            </a:r>
            <a:br/>
            <a:r>
              <a:t>Reusable knowledge</a:t>
            </a:r>
            <a:br/>
            <a:r>
              <a:t>Measurable resolution rate</a:t>
            </a:r>
            <a:br/>
            <a:r>
              <a:t>Scalable IT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3492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5B697E"/>
                </a:solidFill>
                <a:latin typeface="Aptos"/>
              </a:defRPr>
            </a:pPr>
            <a:r>
              <a:t>Key success metric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25780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D274C"/>
                </a:solidFill>
                <a:latin typeface="Aptos"/>
              </a:defRPr>
            </a:pPr>
            <a:r>
              <a:t>Self-Service Resolution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534924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B697E"/>
                </a:solidFill>
                <a:latin typeface="Aptos"/>
              </a:defRPr>
            </a:pPr>
            <a:r>
              <a:t>% of eligible issues solved without IT intervention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1908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5B697E"/>
                </a:solidFill>
                <a:latin typeface="Aptos"/>
              </a:defRPr>
            </a:pPr>
            <a:r>
              <a:t>ITERA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4190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B697E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7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87552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AD7E8"/>
                </a:solidFill>
                <a:latin typeface="Aptos"/>
              </a:defRPr>
            </a:pPr>
            <a:r>
              <a:t>Build ITERA from MVP to an intelligent IT assistant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371600"/>
            <a:ext cx="530352" cy="530352"/>
          </a:xfrm>
          <a:prstGeom prst="ellipse">
            <a:avLst/>
          </a:prstGeom>
          <a:solidFill>
            <a:srgbClr val="268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17904"/>
            <a:ext cx="5303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389888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389888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DDAEC"/>
                </a:solidFill>
                <a:latin typeface="Aptos"/>
              </a:defRPr>
            </a:pPr>
            <a:r>
              <a:t>Python • FastAPI • React • Database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304288"/>
            <a:ext cx="530352" cy="530352"/>
          </a:xfrm>
          <a:prstGeom prst="ellipse">
            <a:avLst/>
          </a:prstGeom>
          <a:solidFill>
            <a:srgbClr val="268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50592"/>
            <a:ext cx="5303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322576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AI MVP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22576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DDAEC"/>
                </a:solidFill>
                <a:latin typeface="Aptos"/>
              </a:defRPr>
            </a:pPr>
            <a:r>
              <a:t>Computer Vision • OCR • NLP • Knowledge Base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236976"/>
            <a:ext cx="530352" cy="530352"/>
          </a:xfrm>
          <a:prstGeom prst="ellipse">
            <a:avLst/>
          </a:prstGeom>
          <a:solidFill>
            <a:srgbClr val="268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83280"/>
            <a:ext cx="5303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255264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55264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DDAEC"/>
                </a:solidFill>
                <a:latin typeface="Aptos"/>
              </a:defRPr>
            </a:pPr>
            <a:r>
              <a:t>Guided troubleshooting • Follow-up questions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169664"/>
            <a:ext cx="530352" cy="530352"/>
          </a:xfrm>
          <a:prstGeom prst="ellipse">
            <a:avLst/>
          </a:prstGeom>
          <a:solidFill>
            <a:srgbClr val="644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15968"/>
            <a:ext cx="5303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187952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87952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DDAEC"/>
                </a:solidFill>
                <a:latin typeface="Aptos"/>
              </a:defRPr>
            </a:pPr>
            <a:r>
              <a:t>Resolution tracking • Reward / feedback mechanism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5102352"/>
            <a:ext cx="530352" cy="530352"/>
          </a:xfrm>
          <a:prstGeom prst="ellipse">
            <a:avLst/>
          </a:prstGeom>
          <a:solidFill>
            <a:srgbClr val="644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248656"/>
            <a:ext cx="5303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5120640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Product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20640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DDAEC"/>
                </a:solidFill>
                <a:latin typeface="Aptos"/>
              </a:defRPr>
            </a:pPr>
            <a:r>
              <a:t>Dashboard • IT portal link • Deployment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594360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2500" b="1">
                <a:solidFill>
                  <a:srgbClr val="FFFFFF"/>
                </a:solidFill>
                <a:latin typeface="Aptos"/>
              </a:defRPr>
            </a:pPr>
            <a:r>
              <a:t>ITERA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5943600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71D4E1"/>
                </a:solidFill>
                <a:latin typeface="Aptos"/>
              </a:defRPr>
            </a:pPr>
            <a:r>
              <a:t>Smarter IT Support, Simplified.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1908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FBED2"/>
                </a:solidFill>
                <a:latin typeface="Aptos"/>
              </a:defRPr>
            </a:pPr>
            <a:r>
              <a:t>ITERA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4190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FBED2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